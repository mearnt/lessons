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2.png"/><Relationship Id="rId6" Type="http://schemas.openxmlformats.org/officeDocument/2006/relationships/image" Target="../media/image-14-3.png"/><Relationship Id="rId7" Type="http://schemas.openxmlformats.org/officeDocument/2006/relationships/image" Target="../media/image-14-7.png"/><Relationship Id="rId8" Type="http://schemas.openxmlformats.org/officeDocument/2006/relationships/image" Target="../media/image-14-2.png"/><Relationship Id="rId9" Type="http://schemas.openxmlformats.org/officeDocument/2006/relationships/image" Target="../media/image-14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393192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77724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267" y="993267"/>
            <a:ext cx="528066" cy="5280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· GRADE 7 · COMPUTER LAB GUIDE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Lab Etiquette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461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សុជីវធម៌ក្នុងបន្ទប់កុំព្យូទ័រ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 (English–Khmer) guide to lab conduct, device care, and digital citizenship for Grade 7 students.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63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6C4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មគ្គុទ្ទេសក៍ពីរភាសា (អង់គ្លេស-ខ្មែរ) សម្រាប់សិស្សថ្នាក់ទី៧ ស្តីអំពីការប្រព្រឹត្ត ការថែទាំឧបករណ៍ និងសុជីវធម៌ឌីជីថល។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ICT Class  ·  15-Slide Lesson Deck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មាតិកា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59" y="12721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617720" y="850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40680" y="85039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583" y="990295"/>
            <a:ext cx="341986" cy="34198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63640" y="758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&amp; Why It Matters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1106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គោលបំណងសិក្សា និងមូលហេតុសំខាន់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881360" y="868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17720" y="1764792"/>
            <a:ext cx="7086600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202082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5440680" y="2020824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teac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583" y="216072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19293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Computer Lab Rules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276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ច្បាប់ទូទៅនៃបន្ទប់កុំព្យូទ័រ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0881360" y="2039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17720" y="2935224"/>
            <a:ext cx="7086600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617720" y="319125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5440680" y="3191256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ons/too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83" y="3331159"/>
            <a:ext cx="341986" cy="34198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63640" y="30998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Care &amp; Maintenance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26364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ការថែទាំនិងថែរក្សាឧបករណ៍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0881360" y="32095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617720" y="4105656"/>
            <a:ext cx="7086600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617720" y="43616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Shape 23"/>
          <p:cNvSpPr/>
          <p:nvPr/>
        </p:nvSpPr>
        <p:spPr>
          <a:xfrm>
            <a:off x="5440680" y="436168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icons/user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583" y="4501591"/>
            <a:ext cx="341986" cy="34198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263640" y="42702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&amp; Digital Citizenship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62636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ការប្រើប្រាស់ដោយទំនួលខុសត្រូវ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0881360" y="43799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11–13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617720" y="5276088"/>
            <a:ext cx="7086600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617720" y="5532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6" name="Shape 29"/>
          <p:cNvSpPr/>
          <p:nvPr/>
        </p:nvSpPr>
        <p:spPr>
          <a:xfrm>
            <a:off x="5440680" y="553212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583" y="5672023"/>
            <a:ext cx="341986" cy="34198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263640" y="5440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 &amp; Don'ts Summary + Review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6263640" y="5788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សេចក្តីសង្ខេប និងពិនិត្យឡើងវិញ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10881360" y="55504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គោលបំណងសិក្សា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27639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210312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of computer lab rules.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45336" y="251460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ពន្យល់ពីគោលបំណងនៃច្បាប់បន្ទប់កុំព្យូទ័រ។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154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28223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5336" y="310896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correct, careful handling of hardware.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545336" y="352044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អនុវត្តការប្រើប្រាស់ឧបករណ៍ដោយប្រុងប្រយ័ត្ន និងត្រឹមត្រូវ។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28807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45336" y="411480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safe and responsible digital citizenship habits.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545336" y="452628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អនុវត្តទម្លាប់សុជីវធម៌ឌីជីថលប្រកបដោយសុវត្ថិភាព។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7240" y="51663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9" y="5293919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45336" y="512064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appropriate lab "Do's" from "Don'ts".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545336" y="553212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សម្គាល់អ្វីដែលគួរ និងមិនគួរធ្វើក្នុងបន្ទប់កុំព្យូទ័រ។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366760" y="2057400"/>
            <a:ext cx="3063240" cy="4160520"/>
          </a:xfrm>
          <a:prstGeom prst="roundRect">
            <a:avLst>
              <a:gd name="adj" fmla="val 4179"/>
            </a:avLst>
          </a:prstGeom>
          <a:solidFill>
            <a:srgbClr val="0B2545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58400" y="4846320"/>
            <a:ext cx="1280160" cy="12801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3" name="Shape 17"/>
          <p:cNvSpPr/>
          <p:nvPr/>
        </p:nvSpPr>
        <p:spPr>
          <a:xfrm>
            <a:off x="9212580" y="2971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icons/bulls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314700"/>
            <a:ext cx="685800" cy="6858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5953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Goals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595360" y="5212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កំណត់គោលដៅឱ្យច្បាស់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14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Lab Etiquette Matters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ហេតុអ្វីសុជីវធម៌បន្ទប់កុំព្យូទ័រសំខាន់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computer lab is a learning space that many classes rely on. Following clear routines keeps costly equipment working, keeps the room calm and focused, and protects everyone's files and personal accounts.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776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B6C4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បន្ទប់កុំព្យូទ័រគឺជាកន្លែងសិក្សារួមដែលថ្នាក់ជាច្រើនប្រើប្រាស់រួមគ្នា។ ការអនុវត្តតាមរបៀបរបបច្បាស់លាស់ជួយថែរក្សាឧបករណ៍ថ្លៃៗ រក្សាបរិយាកាសស្ងប់ស្ងាត់ និងការពារឯកសារ ព្រមទាំងគណនីផ្ទាល់ខ្លួនរបស់មនុស្សគ្រប់គ្នា។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23317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3315C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26974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5839" y="2872359"/>
            <a:ext cx="427482" cy="42748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63524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Pillars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បីមូលដ្ឋានគ្រឹះ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35240" y="4690872"/>
            <a:ext cx="91440" cy="91440"/>
          </a:xfrm>
          <a:prstGeom prst="ellipse">
            <a:avLst/>
          </a:prstGeom>
          <a:solidFill>
            <a:srgbClr val="8FE3C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18120" y="4544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 ·  ការប្រព្រឹត្ត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5074920"/>
            <a:ext cx="91440" cy="91440"/>
          </a:xfrm>
          <a:prstGeom prst="ellipse">
            <a:avLst/>
          </a:prstGeom>
          <a:solidFill>
            <a:srgbClr val="8FE3C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18120" y="49286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Care  ·  ការថែទាំឧបករណ៍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35240" y="5458968"/>
            <a:ext cx="91440" cy="91440"/>
          </a:xfrm>
          <a:prstGeom prst="ellipse">
            <a:avLst/>
          </a:prstGeom>
          <a:solidFill>
            <a:srgbClr val="8FE3C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818120" y="5312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Citizenship  ·  សុជីវធម៌ឌីជីថល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4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3106674"/>
            <a:ext cx="553212" cy="5532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Computer Lab Rules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92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ច្បាប់ទូទៅនៃបន្ទប់កុំព្យូទ័រ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LAB CONDUCT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Entering &amp; Sitting in the Lab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ការចូល និងអង្គុយក្នុងបន្ទប់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3221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214884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Presence — only use a workstation when a teacher is present.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45336" y="256032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វត្តមានគ្រូ៖ ចូល ឬប្រើកុំព្យូទ័របានលុះត្រាតែមានវត្តមានគ្រូបង្រៀន។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noFo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55655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5336" y="338328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Food or Drink — keep food, snacks, and water bottles outside the lab.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545336" y="379476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មិនអនុញ្ញាតម្ហូបអាហារ ឬភេសជ្ជៈ៖ ទុកអាហារ បង្អែម និងដបទឹកនៅខាងក្រៅ។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663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chai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79099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45336" y="461772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Workstations — sit at your assigned computer; don't shift furniture.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545336" y="502920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កន្លែងអង្គុយកំណត់៖ អង្គុយតែនៅកន្លែងដែលបានចាត់តាំង និងកុំផ្លាស់ទីគ្រឿងសង្ហារឹម។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3063240" cy="4160520"/>
          </a:xfrm>
          <a:prstGeom prst="roundRect">
            <a:avLst>
              <a:gd name="adj" fmla="val 4179"/>
            </a:avLst>
          </a:prstGeom>
          <a:solidFill>
            <a:srgbClr val="0B2545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58400" y="4846320"/>
            <a:ext cx="1280160" cy="12801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9" name="Shape 14"/>
          <p:cNvSpPr/>
          <p:nvPr/>
        </p:nvSpPr>
        <p:spPr>
          <a:xfrm>
            <a:off x="9212580" y="2971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chai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31470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953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Space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5212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គោរពកន្លែងសិក្សា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LAB CONDUCT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Clean &amp; Quiet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រក្សាភាពស្អាត និងស្ងប់ស្ងាត់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41355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2240280"/>
            <a:ext cx="9473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 — pack up trash, push in your chair, leave the station tidy.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45336" y="2651760"/>
            <a:ext cx="9473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ភាពស្អាត៖ ប្រមូលសំរាម រុញកៅអីចូល ទុកកន្លែងអង្គុយឱ្យស្អាត។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520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headph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64799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5336" y="3474720"/>
            <a:ext cx="9473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Control — use headphones for audio; keep talking to a whisper.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545336" y="3886200"/>
            <a:ext cx="9473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ការគ្រប់គ្រងសំឡេង៖ ប្រើកាសសម្រាប់ស្តាប់សំឡេង ហើយនិយាយស្តីតិចៗ។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937760"/>
            <a:ext cx="10241280" cy="1234440"/>
          </a:xfrm>
          <a:prstGeom prst="roundRect">
            <a:avLst>
              <a:gd name="adj" fmla="val 7407"/>
            </a:avLst>
          </a:prstGeom>
          <a:solidFill>
            <a:srgbClr val="E7F1F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09728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 quiet lab helps everyone concentrate — including you!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54223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ចងចាំ៖ បន្ទប់ស្ងប់ស្ងាត់ជួយឱ្យអ្នកគ្រប់គ្នាផ្តោតការយកចិត្តទុកដាក់បានល្អ — រួមទាំងខ្លួនអ្នកផងដែរ!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4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3106674"/>
            <a:ext cx="553212" cy="5532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Care &amp; Maintenance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92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ការថែទាំនិងថែរក្សាឧបករណ៍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DEVICE CARE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Gentle Hands, Clean Hands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ដៃស្អាត ប្រើប្រាស់ដោយសុភាព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handSpar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3221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214884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 — wash and dry your hands before typing to avoid sticky keys.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45336" y="256032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អនាម័យ៖ លាង និងជូតដៃឱ្យស្ងួតមុនពេលវាយអក្សរ ដើម្បីជៀសវាងគ្រាប់ចុចស្អិត។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key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55655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5336" y="338328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Care — press keys softly; never bang or force them.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545336" y="379476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ថែទាំក្តារចុច៖ ចុចគ្រាប់ចុចឱ្យស្រាល កុំទះខ្លាំង។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663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mou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79099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45336" y="461772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Care — move and click gently; do not jerk or drop it.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545336" y="502920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ថែទាំកណ្តុរ៖ ចលនា និងចុចដោយសុភាព កុំទាញ ឬទម្លាក់វា។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3063240" cy="4160520"/>
          </a:xfrm>
          <a:prstGeom prst="roundRect">
            <a:avLst>
              <a:gd name="adj" fmla="val 4179"/>
            </a:avLst>
          </a:prstGeom>
          <a:solidFill>
            <a:srgbClr val="0B2545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58400" y="4846320"/>
            <a:ext cx="1280160" cy="12801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9" name="Shape 14"/>
          <p:cNvSpPr/>
          <p:nvPr/>
        </p:nvSpPr>
        <p:spPr>
          <a:xfrm>
            <a:off x="9212580" y="2971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handSpark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31470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953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With Care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5212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ថែទាំដោយប្រុងប្រយ័ត្ន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DEVICE CARE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Wires, Repairs &amp; Shutdown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ខ្សែភ្លើង ការជួសជុល និងការបិទម៉ាស៊ីន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3221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214884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Wires — never touch, unplug, or play with cables or power strips.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45336" y="256032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ជៀសវាងខ្សែភ្លើង៖ កុំប៉ះ ដក ឬលេងជាមួយខ្សែ ឬប្លាកភ្លើង។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55655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5336" y="338328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DIY Fixes — never dismantle hardware; report problems immediately.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545336" y="379476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កុំជួសជុលដោយខ្លួនឯង៖ កុំបំបែកឧបករណ៍ រាយការណ៍ភ្លាមៗទៅគ្រូ។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663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p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79099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45336" y="461772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Shutdown — use the software menu, not the physical power button.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545336" y="502920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បិទម៉ាស៊ីនត្រឹមត្រូវ៖ ប្រើម៉ឺនុយបិទតាមកម្មវិធី មិនមែនចុចប៊ូតុងថាមពលដោយផ្ទាល់។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3063240" cy="4160520"/>
          </a:xfrm>
          <a:prstGeom prst="roundRect">
            <a:avLst>
              <a:gd name="adj" fmla="val 4179"/>
            </a:avLst>
          </a:prstGeom>
          <a:solidFill>
            <a:srgbClr val="0B2545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58400" y="4846320"/>
            <a:ext cx="1280160" cy="12801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9" name="Shape 14"/>
          <p:cNvSpPr/>
          <p:nvPr/>
        </p:nvSpPr>
        <p:spPr>
          <a:xfrm>
            <a:off x="9212580" y="2971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p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31470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953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You Act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5212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សួរមុននឹងធ្វើ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4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3106674"/>
            <a:ext cx="553212" cy="5532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&amp; Digital Citizenship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92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ការប្រើប្រាស់ដោយទំនួលខុសត្រូវ និងសុជីវធម៌ឌីជីថល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DIGITAL CITIZENSHIP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Accounts, Software &amp; Focus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គណនី កម្មវិធី និងការផ្តោតការសិក្សា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3221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214884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Priority — computers are for schoolwork, not gambling or gaming.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45336" y="256032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អាទិភាពសិក្សា៖ កុំព្យូទ័រសម្រាប់ការសិក្សា មិនមែនសម្រាប់ល្បែងស៊ីសង ឬហ្គេមទូទៅឡើយ។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55655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5336" y="338328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Security — log in only to your own account; keep passwords secret.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545336" y="379476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សុវត្ថិភាពគណនី៖ ចូលគណនីផ្ទាល់ខ្លួនប៉ុណ្ណោះ រក្សាពាក្យសម្ងាត់ជាការសម្ងាត់។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663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79099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45336" y="461772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Integrity — never download, install, or change settings/backgrounds.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545336" y="502920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ភាពត្រឹមត្រូវនៃកម្មវិធី៖ កុំទាញយក ដំឡើង ឬកែប្រែការកំណត់ ឬផ្ទាំងខាងក្រោយ។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3063240" cy="4160520"/>
          </a:xfrm>
          <a:prstGeom prst="roundRect">
            <a:avLst>
              <a:gd name="adj" fmla="val 4179"/>
            </a:avLst>
          </a:prstGeom>
          <a:solidFill>
            <a:srgbClr val="0B2545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58400" y="4846320"/>
            <a:ext cx="1280160" cy="12801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9" name="Shape 14"/>
          <p:cNvSpPr/>
          <p:nvPr/>
        </p:nvSpPr>
        <p:spPr>
          <a:xfrm>
            <a:off x="9212580" y="2971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31470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953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Account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5212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ការពារគណនីរបស់អ្នក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DIGITAL CITIZENSHIP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Browsing, Storage &amp; Printing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ការរុករក ការផ្ទុកទិន្នន័យ និងការបោះពុម្ព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3221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214884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Browsing — stick to approved educational websites to avoid malware.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45336" y="256032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រុករកដោយសុវត្ថិភាព៖ ចូលមើលតែគេហទំព័រអប់រំដែលបានអនុញ្ញាត ដើម្បីជៀសវាងមេរោគ។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us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55655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45336" y="338328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Media — scan flash drives or storage devices before opening files.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545336" y="379476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ឧបករណ៍ផ្ទុកខាងក្រៅ៖ ស្កេនរកមេរោគមុននឹងបើកឯកសារ។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6634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icons/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79099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45336" y="4617720"/>
            <a:ext cx="6455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Printing — use print preview; print only what is necessary.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545336" y="5029200"/>
            <a:ext cx="645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បោះពុម្ពសន្សំសំចៃ៖ ពិនិត្យមុននិងបោះពុម្ពតែពេលចាំបាច់។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3063240" cy="4160520"/>
          </a:xfrm>
          <a:prstGeom prst="roundRect">
            <a:avLst>
              <a:gd name="adj" fmla="val 4179"/>
            </a:avLst>
          </a:prstGeom>
          <a:solidFill>
            <a:srgbClr val="0B2545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58400" y="4846320"/>
            <a:ext cx="1280160" cy="12801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9" name="Shape 14"/>
          <p:cNvSpPr/>
          <p:nvPr/>
        </p:nvSpPr>
        <p:spPr>
          <a:xfrm>
            <a:off x="9212580" y="2971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314700"/>
            <a:ext cx="6858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953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Smart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595360" y="5212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រុករកដោយឆ្លាតវៃ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vs. Don'ts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325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អ្វីគួរធ្វើ និងអ្វីមិនគួរធ្វើ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12700">
            <a:solidFill>
              <a:srgbClr val="E1E9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4048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2528316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4048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Conduct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7157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ការប្រព្រឹត្តក្នុងបន្ទប់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33272" y="3200400"/>
            <a:ext cx="2807208" cy="0"/>
          </a:xfrm>
          <a:prstGeom prst="line">
            <a:avLst/>
          </a:prstGeom>
          <a:noFill/>
          <a:ln w="12700">
            <a:solidFill>
              <a:srgbClr val="E1E9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3272" y="3383280"/>
            <a:ext cx="365760" cy="36576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1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46557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90472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33272" y="377647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quietly, use your seat, listen to instructors.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033272" y="42336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ចូលដោយស្ងាត់ អង្គុយត្រឹមត្រូវ ស្តាប់តាមគ្រូ។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033272" y="4846320"/>
            <a:ext cx="365760" cy="365760"/>
          </a:xfrm>
          <a:prstGeom prst="ellipse">
            <a:avLst/>
          </a:prstGeom>
          <a:solidFill>
            <a:srgbClr val="C24C4C"/>
          </a:solidFill>
          <a:ln/>
        </p:spPr>
      </p:sp>
      <p:pic>
        <p:nvPicPr>
          <p:cNvPr id="17" name="Image 2" descr="icons/x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93776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90472" y="4864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033272" y="523951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bags, food, or open drinks inside.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56692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កុំយកកាបូប អាហារ ឬភេសជ្ជៈចូល។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279392" y="214884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12700">
            <a:solidFill>
              <a:srgbClr val="E1E9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35424" y="24048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ons/too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2528316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39512" y="24048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Care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239512" y="27157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ការថែទាំឧបករណ៍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35424" y="3200400"/>
            <a:ext cx="2807208" cy="0"/>
          </a:xfrm>
          <a:prstGeom prst="line">
            <a:avLst/>
          </a:prstGeom>
          <a:noFill/>
          <a:ln w="12700">
            <a:solidFill>
              <a:srgbClr val="E1E9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35424" y="3383280"/>
            <a:ext cx="365760" cy="36576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2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465576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992624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4535424" y="377647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gently, keep area clean, report issues.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4535424" y="42336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វាយអក្សរស្រាល រក្សាកន្លែងស្អាត រាយការណ៍បញ្ហា។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535424" y="4846320"/>
            <a:ext cx="365760" cy="365760"/>
          </a:xfrm>
          <a:prstGeom prst="ellipse">
            <a:avLst/>
          </a:prstGeom>
          <a:solidFill>
            <a:srgbClr val="C24C4C"/>
          </a:solidFill>
          <a:ln/>
        </p:spPr>
      </p:sp>
      <p:pic>
        <p:nvPicPr>
          <p:cNvPr id="33" name="Image 5" descr="icons/x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4937760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992624" y="4864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4535424" y="523951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pulling cables or forcing parts.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4535424" y="56692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កុំទាញខ្សែ ឬបង្ខំគ្រឿងបន្លាស់។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7781544" y="2148840"/>
            <a:ext cx="3319272" cy="397764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12700">
            <a:solidFill>
              <a:srgbClr val="E1E9E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037576" y="24048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6" descr="icons/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020" y="2528316"/>
            <a:ext cx="301752" cy="30175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741664" y="24048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Activity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8741664" y="271576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សកម្មភាពឌីជីថល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8037576" y="3200400"/>
            <a:ext cx="2807208" cy="0"/>
          </a:xfrm>
          <a:prstGeom prst="line">
            <a:avLst/>
          </a:prstGeom>
          <a:noFill/>
          <a:ln w="12700">
            <a:solidFill>
              <a:srgbClr val="E1E9EB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037576" y="3383280"/>
            <a:ext cx="365760" cy="365760"/>
          </a:xfrm>
          <a:prstGeom prst="ellipse">
            <a:avLst/>
          </a:prstGeom>
          <a:solidFill>
            <a:srgbClr val="2E9E6D"/>
          </a:solidFill>
          <a:ln/>
        </p:spPr>
      </p:sp>
      <p:pic>
        <p:nvPicPr>
          <p:cNvPr id="44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9872" y="3465576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8494776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8037576" y="377647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educational sites; log out when done.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8037576" y="42336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ប្រើគេហទំព័រអប់រំ ចាកចេញពេលរួច។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8037576" y="4846320"/>
            <a:ext cx="365760" cy="365760"/>
          </a:xfrm>
          <a:prstGeom prst="ellipse">
            <a:avLst/>
          </a:prstGeom>
          <a:solidFill>
            <a:srgbClr val="C24C4C"/>
          </a:solidFill>
          <a:ln/>
        </p:spPr>
      </p:sp>
      <p:pic>
        <p:nvPicPr>
          <p:cNvPr id="49" name="Image 8" descr="icons/xm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9016" y="4937760"/>
            <a:ext cx="182880" cy="18288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8494776" y="4864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100" dirty="0"/>
          </a:p>
        </p:txBody>
      </p:sp>
      <p:sp>
        <p:nvSpPr>
          <p:cNvPr id="51" name="Text 40"/>
          <p:cNvSpPr txBox="1"/>
          <p:nvPr/>
        </p:nvSpPr>
        <p:spPr>
          <a:xfrm>
            <a:off x="8037576" y="523951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games, bypassing blocks, or downloads.</a:t>
            </a:r>
            <a:endParaRPr lang="en-US" sz="1150" dirty="0"/>
          </a:p>
        </p:txBody>
      </p:sp>
      <p:sp>
        <p:nvSpPr>
          <p:cNvPr id="52" name="Text 41"/>
          <p:cNvSpPr txBox="1"/>
          <p:nvPr/>
        </p:nvSpPr>
        <p:spPr>
          <a:xfrm>
            <a:off x="8037576" y="566928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កុំលេងហ្គេម រំលងការទប់ស្កាត់ ឬទាញយកកម្មវិធី។</a:t>
            </a:r>
            <a:endParaRPr lang="en-US" sz="1050" dirty="0"/>
          </a:p>
        </p:txBody>
      </p:sp>
      <p:sp>
        <p:nvSpPr>
          <p:cNvPr id="53" name="Text 4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14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the Room, Respect Each Other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E3CF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គោរពបន្ទប់ គោរពគ្នាទៅវិញទៅមក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459279"/>
            <a:ext cx="311810" cy="311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45336" y="2286000"/>
            <a:ext cx="9107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calm, careful, and considerate every time you use the lab.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45336" y="2697480"/>
            <a:ext cx="9107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CE6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ស្ងប់ស្ងាត់ ប្រុងប្រយ័ត្ន និងគិតគូរដល់អ្នកដទៃរាល់ពេលប្រើបន្ទប់។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3383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9" y="35108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45336" y="3337560"/>
            <a:ext cx="9107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device like it's the only one available.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45336" y="3749040"/>
            <a:ext cx="9107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CE6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ថែរក្សាឧបករណ៍ម្នាក់ៗដូចជាមានតែមួយគត់។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4434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56239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45336" y="4389120"/>
            <a:ext cx="9107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 online: your accounts, your responsibility.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545336" y="4800600"/>
            <a:ext cx="9107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CE6"/>
                </a:solidFill>
                <a:latin typeface="Khmer OS Battambang" pitchFamily="34" charset="0"/>
                <a:ea typeface="Khmer OS Battambang" pitchFamily="34" charset="-122"/>
                <a:cs typeface="Khmer OS Battambang" pitchFamily="34" charset="-120"/>
              </a:rPr>
              <a:t>សុវត្ថិភាពលើអ៊ីនធឺណិត៖ គណនីរបស់អ្នក ជាទំនួលខុសត្រូវរបស់អ្នក។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 ·  អរគុណ!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2026-09-04T05:22:47Z</dcterms:created>
  <dcterms:modified xsi:type="dcterms:W3CDTF">2026-09-04T05:22:47Z</dcterms:modified>
</cp:coreProperties>
</file>